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5" cy="532800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Пустой шаблон ПЧК. Меняйте цифры в щитах и текстовые поля. Фон и щиты находятся в макете слайда. Формат 210 × 148 мм. Экспортируйте в PDF для печати.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Портрет добавляется в левую половину слайда, предыстория располагается справа. Чужой демонстрационный портрет в шаблон не включён. Шрифт Cambria Italic 16 пт.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Портрет и предыстор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ригинальная текстура фона" descr="textu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Характеристики и способнос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ригинальное оформление — щиты и фон" descr="stats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Имя и роль персонажа"/>
          <p:cNvSpPr txBox="1"/>
          <p:nvPr/>
        </p:nvSpPr>
        <p:spPr>
          <a:xfrm>
            <a:off x="419100" y="215900"/>
            <a:ext cx="6794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>[Класс, титул] [Имя персонажа]</a:t>
            </a:r>
          </a:p>
        </p:txBody>
      </p:sp>
      <p:sp>
        <p:nvSpPr>
          <p:cNvPr id="3" name="Сила"/>
          <p:cNvSpPr txBox="1"/>
          <p:nvPr/>
        </p:nvSpPr>
        <p:spPr>
          <a:xfrm>
            <a:off x="4572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+0</a:t>
            </a:r>
          </a:p>
        </p:txBody>
      </p:sp>
      <p:sp>
        <p:nvSpPr>
          <p:cNvPr id="4" name="Ловкость"/>
          <p:cNvSpPr txBox="1"/>
          <p:nvPr/>
        </p:nvSpPr>
        <p:spPr>
          <a:xfrm>
            <a:off x="11811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+0</a:t>
            </a:r>
          </a:p>
        </p:txBody>
      </p:sp>
      <p:sp>
        <p:nvSpPr>
          <p:cNvPr id="5" name="Выносливость"/>
          <p:cNvSpPr txBox="1"/>
          <p:nvPr/>
        </p:nvSpPr>
        <p:spPr>
          <a:xfrm>
            <a:off x="19685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+0</a:t>
            </a:r>
          </a:p>
        </p:txBody>
      </p:sp>
      <p:sp>
        <p:nvSpPr>
          <p:cNvPr id="6" name="Мудрость"/>
          <p:cNvSpPr txBox="1"/>
          <p:nvPr/>
        </p:nvSpPr>
        <p:spPr>
          <a:xfrm>
            <a:off x="27559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+0</a:t>
            </a:r>
          </a:p>
        </p:txBody>
      </p:sp>
      <p:sp>
        <p:nvSpPr>
          <p:cNvPr id="7" name="Интеллект"/>
          <p:cNvSpPr txBox="1"/>
          <p:nvPr/>
        </p:nvSpPr>
        <p:spPr>
          <a:xfrm>
            <a:off x="35179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+0</a:t>
            </a:r>
          </a:p>
        </p:txBody>
      </p:sp>
      <p:sp>
        <p:nvSpPr>
          <p:cNvPr id="8" name="Харизма"/>
          <p:cNvSpPr txBox="1"/>
          <p:nvPr/>
        </p:nvSpPr>
        <p:spPr>
          <a:xfrm>
            <a:off x="43053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+0</a:t>
            </a:r>
          </a:p>
        </p:txBody>
      </p:sp>
      <p:sp>
        <p:nvSpPr>
          <p:cNvPr id="9" name="Класс брони"/>
          <p:cNvSpPr txBox="1"/>
          <p:nvPr/>
        </p:nvSpPr>
        <p:spPr>
          <a:xfrm>
            <a:off x="56007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10</a:t>
            </a:r>
          </a:p>
        </p:txBody>
      </p:sp>
      <p:sp>
        <p:nvSpPr>
          <p:cNvPr id="10" name="Здоровье"/>
          <p:cNvSpPr txBox="1"/>
          <p:nvPr/>
        </p:nvSpPr>
        <p:spPr>
          <a:xfrm>
            <a:off x="6515100" y="863600"/>
            <a:ext cx="5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ln w="9525">
                  <a:solidFill>
                    <a:srgbClr val="242222"/>
                  </a:solidFill>
                </a:ln>
                <a:solidFill>
                  <a:srgbClr val="FFFFFF"/>
                </a:solidFill>
                <a:latin typeface="Impact"/>
              </a:rPr>
              <a:t>20</a:t>
            </a:r>
          </a:p>
        </p:txBody>
      </p:sp>
      <p:sp>
        <p:nvSpPr>
          <p:cNvPr id="11" name="Владения и особые навыки"/>
          <p:cNvSpPr txBox="1"/>
          <p:nvPr/>
        </p:nvSpPr>
        <p:spPr>
          <a:xfrm>
            <a:off x="381000" y="1574800"/>
            <a:ext cx="6794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242222"/>
                </a:solidFill>
                <a:latin typeface="Cambria"/>
              </a:rPr>
              <a:t>Владение оружием: </a:t>
            </a:r>
            <a:r>
              <a:rPr sz="969" b="0" i="1">
                <a:solidFill>
                  <a:srgbClr val="242222"/>
                </a:solidFill>
                <a:latin typeface="Cambria"/>
              </a:rPr>
              <a:t>[Название оружия] +0</a:t>
            </a:r>
          </a:p>
          <a:p>
            <a:pPr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242222"/>
                </a:solidFill>
                <a:latin typeface="Cambria"/>
              </a:rPr>
              <a:t>Особые навыки: </a:t>
            </a:r>
            <a:r>
              <a:rPr sz="969" b="0" i="1">
                <a:solidFill>
                  <a:srgbClr val="242222"/>
                </a:solidFill>
                <a:latin typeface="Cambria"/>
              </a:rPr>
              <a:t>[Навык] +0; [Навык] +0</a:t>
            </a:r>
          </a:p>
        </p:txBody>
      </p:sp>
      <p:sp>
        <p:nvSpPr>
          <p:cNvPr id="12" name="Заголовок способностей"/>
          <p:cNvSpPr txBox="1"/>
          <p:nvPr/>
        </p:nvSpPr>
        <p:spPr>
          <a:xfrm>
            <a:off x="381000" y="1955800"/>
            <a:ext cx="67945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2222"/>
                </a:solidFill>
                <a:latin typeface="Cambria"/>
              </a:rPr>
              <a:t>Способности:</a:t>
            </a:r>
          </a:p>
        </p:txBody>
      </p:sp>
      <p:sp>
        <p:nvSpPr>
          <p:cNvPr id="13" name="Способности персонажа"/>
          <p:cNvSpPr txBox="1"/>
          <p:nvPr/>
        </p:nvSpPr>
        <p:spPr>
          <a:xfrm>
            <a:off x="381000" y="2133600"/>
            <a:ext cx="6794500" cy="78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[Способность 1] (1 раз): 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[Что делает способность, её эффект и ограничения.]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[Способность 2] (2 раза): 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[Действие, дальность, урон или сложность спасброска.]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[Способность 3]: 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[Постоянное свойство или особенность персонажа.]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[Способность 4]: 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[Условие применения и результат. При необходимости продолжите описание на следующей строке.]</a:t>
            </a:r>
          </a:p>
        </p:txBody>
      </p:sp>
      <p:sp>
        <p:nvSpPr>
          <p:cNvPr id="14" name="Заголовок вещей"/>
          <p:cNvSpPr txBox="1"/>
          <p:nvPr/>
        </p:nvSpPr>
        <p:spPr>
          <a:xfrm>
            <a:off x="381000" y="2959100"/>
            <a:ext cx="67945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2222"/>
                </a:solidFill>
                <a:latin typeface="Cambria"/>
              </a:rPr>
              <a:t>Вещи:</a:t>
            </a:r>
          </a:p>
        </p:txBody>
      </p:sp>
      <p:sp>
        <p:nvSpPr>
          <p:cNvPr id="15" name="Оружие, броня и инвентарь"/>
          <p:cNvSpPr txBox="1"/>
          <p:nvPr/>
        </p:nvSpPr>
        <p:spPr>
          <a:xfrm>
            <a:off x="381000" y="3136900"/>
            <a:ext cx="67945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[Основное оружие]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, атака +0, урон 1d8+0.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[Дополнительное оружие]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, атака +0, урон 1d6+0.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[Доспех]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, броня 10.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[Щит или защитный предмет]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, броня +2, если в руке.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[Одежда и снаряжение]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[Личный предмет]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, [короткое описание].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Припасы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: [еда, зелья и расходные материалы].</a:t>
            </a:r>
          </a:p>
          <a:p>
            <a:pPr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42222"/>
                </a:solidFill>
                <a:latin typeface="Cambria"/>
              </a:rPr>
              <a:t>[Другие вещи]</a:t>
            </a:r>
            <a:r>
              <a:rPr sz="940" b="0" i="1">
                <a:solidFill>
                  <a:srgbClr val="242222"/>
                </a:solidFill>
                <a:latin typeface="Cambria"/>
              </a:rPr>
              <a:t>: [перечень предметов].</a:t>
            </a:r>
          </a:p>
        </p:txBody>
      </p:sp>
      <p:sp>
        <p:nvSpPr>
          <p:cNvPr id="16" name="Заголовок особого ресурса"/>
          <p:cNvSpPr txBox="1"/>
          <p:nvPr/>
        </p:nvSpPr>
        <p:spPr>
          <a:xfrm>
            <a:off x="381000" y="4203700"/>
            <a:ext cx="67945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2222"/>
                </a:solidFill>
                <a:latin typeface="Cambria"/>
              </a:rPr>
              <a:t>[Особый предмет или магия] (5 зарядов):</a:t>
            </a:r>
          </a:p>
        </p:txBody>
      </p:sp>
      <p:sp>
        <p:nvSpPr>
          <p:cNvPr id="17" name="Особые способности и заряды"/>
          <p:cNvSpPr txBox="1"/>
          <p:nvPr/>
        </p:nvSpPr>
        <p:spPr>
          <a:xfrm>
            <a:off x="381000" y="4381500"/>
            <a:ext cx="6794500" cy="78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42222"/>
                </a:solidFill>
                <a:latin typeface="Cambria"/>
              </a:rPr>
              <a:t>[Эффект 1] (1 заряд): </a:t>
            </a:r>
            <a:r>
              <a:rPr sz="930" b="0" i="1">
                <a:solidFill>
                  <a:srgbClr val="242222"/>
                </a:solidFill>
                <a:latin typeface="Cambria"/>
              </a:rPr>
              <a:t>[Цель, дальность и длительность эффекта.]</a:t>
            </a:r>
          </a:p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42222"/>
                </a:solidFill>
                <a:latin typeface="Cambria"/>
              </a:rPr>
              <a:t>[Эффект 2] (1 заряд): </a:t>
            </a:r>
            <a:r>
              <a:rPr sz="930" b="0" i="1">
                <a:solidFill>
                  <a:srgbClr val="242222"/>
                </a:solidFill>
                <a:latin typeface="Cambria"/>
              </a:rPr>
              <a:t>[Описание эффекта. Атака +0, урон 2d6.]</a:t>
            </a:r>
          </a:p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42222"/>
                </a:solidFill>
                <a:latin typeface="Cambria"/>
              </a:rPr>
              <a:t>[Эффект 3] (2 заряда): </a:t>
            </a:r>
            <a:r>
              <a:rPr sz="930" b="0" i="1">
                <a:solidFill>
                  <a:srgbClr val="242222"/>
                </a:solidFill>
                <a:latin typeface="Cambria"/>
              </a:rPr>
              <a:t>[Зона действия, сложность спасброска и результат при успехе или провале.]</a:t>
            </a:r>
          </a:p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42222"/>
                </a:solidFill>
                <a:latin typeface="Cambria"/>
              </a:rPr>
              <a:t>[Эффект 4] (2 заряда): </a:t>
            </a:r>
            <a:r>
              <a:rPr sz="930" b="0" i="1">
                <a:solidFill>
                  <a:srgbClr val="242222"/>
                </a:solidFill>
                <a:latin typeface="Cambria"/>
              </a:rPr>
              <a:t>[Описание особой способности и ограничений её использования. Укажите, как восстанавливаются заряды.]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Предыстория персонажа"/>
          <p:cNvSpPr txBox="1"/>
          <p:nvPr/>
        </p:nvSpPr>
        <p:spPr>
          <a:xfrm>
            <a:off x="3975100" y="254000"/>
            <a:ext cx="3378200" cy="482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>Я — [имя персонажа], [класс, происхождение или титул].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>[Расскажите, откуда вы родом и какое событие изменило вашу жизнь.]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>[Опишите характер, важные связи и то, что привело вас в это приключение.]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42222"/>
                </a:solidFill>
                <a:latin typeface="Cambria"/>
              </a:rPr>
              <a:t>[Запишите вашу цель: чего вы добиваетесь, кому помогаете и на что готовы ради этого пойти.]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Лист персонажа — шаблон</dc:title>
  <dc:subject>Два листа A5 по образцу Подземелий Чикен Карри</dc:subject>
  <dc:creator/>
  <cp:keywords>лист персонажа, шаблон, A5, ПЧК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